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</p:sldIdLst>
  <p:sldSz cx="16459200" cy="18288000"/>
  <p:notesSz cx="6858000" cy="9144000"/>
  <p:defaultTextStyle>
    <a:defPPr>
      <a:defRPr lang="en-US"/>
    </a:defPPr>
    <a:lvl1pPr marL="0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1pPr>
    <a:lvl2pPr marL="744550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2pPr>
    <a:lvl3pPr marL="1489100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3pPr>
    <a:lvl4pPr marL="223365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4pPr>
    <a:lvl5pPr marL="297820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5pPr>
    <a:lvl6pPr marL="372275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6pPr>
    <a:lvl7pPr marL="446730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7pPr>
    <a:lvl8pPr marL="521185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8pPr>
    <a:lvl9pPr marL="5956402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354" y="-3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125" y="16559802"/>
            <a:ext cx="15060168" cy="121917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631" y="2609088"/>
            <a:ext cx="15060168" cy="9144000"/>
          </a:xfrm>
        </p:spPr>
        <p:txBody>
          <a:bodyPr anchor="t">
            <a:normAutofit/>
          </a:bodyPr>
          <a:lstStyle>
            <a:lvl1pPr algn="l">
              <a:defRPr sz="1280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631" y="11948160"/>
            <a:ext cx="9591599" cy="3730752"/>
          </a:xfrm>
        </p:spPr>
        <p:txBody>
          <a:bodyPr anchor="b">
            <a:normAutofit/>
          </a:bodyPr>
          <a:lstStyle>
            <a:lvl1pPr marL="0" indent="0" algn="l">
              <a:buNone/>
              <a:defRPr sz="3912" i="1"/>
            </a:lvl1pPr>
            <a:lvl2pPr marL="812916" indent="0" algn="ctr">
              <a:buNone/>
              <a:defRPr sz="3556"/>
            </a:lvl2pPr>
            <a:lvl3pPr marL="1625831" indent="0" algn="ctr">
              <a:buNone/>
              <a:defRPr sz="3200"/>
            </a:lvl3pPr>
            <a:lvl4pPr marL="2438747" indent="0" algn="ctr">
              <a:buNone/>
              <a:defRPr sz="2844"/>
            </a:lvl4pPr>
            <a:lvl5pPr marL="3251664" indent="0" algn="ctr">
              <a:buNone/>
              <a:defRPr sz="2844"/>
            </a:lvl5pPr>
            <a:lvl6pPr marL="4064580" indent="0" algn="ctr">
              <a:buNone/>
              <a:defRPr sz="2844"/>
            </a:lvl6pPr>
            <a:lvl7pPr marL="4877495" indent="0" algn="ctr">
              <a:buNone/>
              <a:defRPr sz="2844"/>
            </a:lvl7pPr>
            <a:lvl8pPr marL="5690411" indent="0" algn="ctr">
              <a:buNone/>
              <a:defRPr sz="2844"/>
            </a:lvl8pPr>
            <a:lvl9pPr marL="6503327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0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8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1" y="2609088"/>
            <a:ext cx="6777076" cy="11436096"/>
          </a:xfrm>
        </p:spPr>
        <p:txBody>
          <a:bodyPr anchor="t">
            <a:normAutofit/>
          </a:bodyPr>
          <a:lstStyle>
            <a:lvl1pPr>
              <a:defRPr sz="960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631" y="14045184"/>
            <a:ext cx="6777076" cy="2901696"/>
          </a:xfrm>
        </p:spPr>
        <p:txBody>
          <a:bodyPr anchor="b">
            <a:normAutofit/>
          </a:bodyPr>
          <a:lstStyle>
            <a:lvl1pPr marL="0" indent="0">
              <a:buNone/>
              <a:defRPr sz="3912" i="1">
                <a:solidFill>
                  <a:schemeClr val="tx1">
                    <a:tint val="82000"/>
                  </a:schemeClr>
                </a:solidFill>
              </a:defRPr>
            </a:lvl1pPr>
            <a:lvl2pPr marL="812916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2pPr>
            <a:lvl3pPr marL="162583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74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664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458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7495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9041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332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699132" y="1354910"/>
            <a:ext cx="6778597" cy="3980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61503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3631" y="6876288"/>
            <a:ext cx="6974586" cy="10046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01557" y="6876288"/>
            <a:ext cx="6974586" cy="10046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7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1" y="2609088"/>
            <a:ext cx="15072512" cy="3243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631" y="6242304"/>
            <a:ext cx="6974586" cy="1755648"/>
          </a:xfrm>
        </p:spPr>
        <p:txBody>
          <a:bodyPr anchor="b">
            <a:normAutofit/>
          </a:bodyPr>
          <a:lstStyle>
            <a:lvl1pPr marL="0" indent="0">
              <a:buNone/>
              <a:defRPr sz="3912" b="0" i="1"/>
            </a:lvl1pPr>
            <a:lvl2pPr marL="812916" indent="0">
              <a:buNone/>
              <a:defRPr sz="3556" b="1"/>
            </a:lvl2pPr>
            <a:lvl3pPr marL="1625831" indent="0">
              <a:buNone/>
              <a:defRPr sz="3200" b="1"/>
            </a:lvl3pPr>
            <a:lvl4pPr marL="2438747" indent="0">
              <a:buNone/>
              <a:defRPr sz="2844" b="1"/>
            </a:lvl4pPr>
            <a:lvl5pPr marL="3251664" indent="0">
              <a:buNone/>
              <a:defRPr sz="2844" b="1"/>
            </a:lvl5pPr>
            <a:lvl6pPr marL="4064580" indent="0">
              <a:buNone/>
              <a:defRPr sz="2844" b="1"/>
            </a:lvl6pPr>
            <a:lvl7pPr marL="4877495" indent="0">
              <a:buNone/>
              <a:defRPr sz="2844" b="1"/>
            </a:lvl7pPr>
            <a:lvl8pPr marL="5690411" indent="0">
              <a:buNone/>
              <a:defRPr sz="2844" b="1"/>
            </a:lvl8pPr>
            <a:lvl9pPr marL="6503327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3631" y="8095488"/>
            <a:ext cx="6974586" cy="88270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801557" y="6242304"/>
            <a:ext cx="6974586" cy="1755648"/>
          </a:xfrm>
        </p:spPr>
        <p:txBody>
          <a:bodyPr anchor="b">
            <a:normAutofit/>
          </a:bodyPr>
          <a:lstStyle>
            <a:lvl1pPr marL="0" indent="0">
              <a:buNone/>
              <a:defRPr sz="3912" b="0" i="1"/>
            </a:lvl1pPr>
            <a:lvl2pPr marL="812916" indent="0">
              <a:buNone/>
              <a:defRPr sz="3556" b="1"/>
            </a:lvl2pPr>
            <a:lvl3pPr marL="1625831" indent="0">
              <a:buNone/>
              <a:defRPr sz="3200" b="1"/>
            </a:lvl3pPr>
            <a:lvl4pPr marL="2438747" indent="0">
              <a:buNone/>
              <a:defRPr sz="2844" b="1"/>
            </a:lvl4pPr>
            <a:lvl5pPr marL="3251664" indent="0">
              <a:buNone/>
              <a:defRPr sz="2844" b="1"/>
            </a:lvl5pPr>
            <a:lvl6pPr marL="4064580" indent="0">
              <a:buNone/>
              <a:defRPr sz="2844" b="1"/>
            </a:lvl6pPr>
            <a:lvl7pPr marL="4877495" indent="0">
              <a:buNone/>
              <a:defRPr sz="2844" b="1"/>
            </a:lvl7pPr>
            <a:lvl8pPr marL="5690411" indent="0">
              <a:buNone/>
              <a:defRPr sz="2844" b="1"/>
            </a:lvl8pPr>
            <a:lvl9pPr marL="6503327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801557" y="8095488"/>
            <a:ext cx="6974586" cy="88270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2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35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1" y="2609088"/>
            <a:ext cx="6777076" cy="6559296"/>
          </a:xfrm>
        </p:spPr>
        <p:txBody>
          <a:bodyPr anchor="t">
            <a:noAutofit/>
          </a:bodyPr>
          <a:lstStyle>
            <a:lvl1pPr>
              <a:defRPr sz="782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557" y="2633130"/>
            <a:ext cx="6974586" cy="14289024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3631" y="9534144"/>
            <a:ext cx="6777076" cy="7388352"/>
          </a:xfrm>
        </p:spPr>
        <p:txBody>
          <a:bodyPr>
            <a:normAutofit/>
          </a:bodyPr>
          <a:lstStyle>
            <a:lvl1pPr marL="0" indent="0">
              <a:buNone/>
              <a:defRPr sz="3912" i="1"/>
            </a:lvl1pPr>
            <a:lvl2pPr marL="812916" indent="0">
              <a:buNone/>
              <a:defRPr sz="2489"/>
            </a:lvl2pPr>
            <a:lvl3pPr marL="1625831" indent="0">
              <a:buNone/>
              <a:defRPr sz="2133"/>
            </a:lvl3pPr>
            <a:lvl4pPr marL="2438747" indent="0">
              <a:buNone/>
              <a:defRPr sz="1778"/>
            </a:lvl4pPr>
            <a:lvl5pPr marL="3251664" indent="0">
              <a:buNone/>
              <a:defRPr sz="1778"/>
            </a:lvl5pPr>
            <a:lvl6pPr marL="4064580" indent="0">
              <a:buNone/>
              <a:defRPr sz="1778"/>
            </a:lvl6pPr>
            <a:lvl7pPr marL="4877495" indent="0">
              <a:buNone/>
              <a:defRPr sz="1778"/>
            </a:lvl7pPr>
            <a:lvl8pPr marL="5690411" indent="0">
              <a:buNone/>
              <a:defRPr sz="1778"/>
            </a:lvl8pPr>
            <a:lvl9pPr marL="6503327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1" y="2609088"/>
            <a:ext cx="6777076" cy="6559296"/>
          </a:xfrm>
        </p:spPr>
        <p:txBody>
          <a:bodyPr anchor="t">
            <a:noAutofit/>
          </a:bodyPr>
          <a:lstStyle>
            <a:lvl1pPr>
              <a:defRPr sz="782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01557" y="2633130"/>
            <a:ext cx="6974586" cy="14289024"/>
          </a:xfrm>
        </p:spPr>
        <p:txBody>
          <a:bodyPr/>
          <a:lstStyle>
            <a:lvl1pPr marL="0" indent="0">
              <a:buNone/>
              <a:defRPr sz="5690"/>
            </a:lvl1pPr>
            <a:lvl2pPr marL="812916" indent="0">
              <a:buNone/>
              <a:defRPr sz="4979"/>
            </a:lvl2pPr>
            <a:lvl3pPr marL="1625831" indent="0">
              <a:buNone/>
              <a:defRPr sz="4268"/>
            </a:lvl3pPr>
            <a:lvl4pPr marL="2438747" indent="0">
              <a:buNone/>
              <a:defRPr sz="3556"/>
            </a:lvl4pPr>
            <a:lvl5pPr marL="3251664" indent="0">
              <a:buNone/>
              <a:defRPr sz="3556"/>
            </a:lvl5pPr>
            <a:lvl6pPr marL="4064580" indent="0">
              <a:buNone/>
              <a:defRPr sz="3556"/>
            </a:lvl6pPr>
            <a:lvl7pPr marL="4877495" indent="0">
              <a:buNone/>
              <a:defRPr sz="3556"/>
            </a:lvl7pPr>
            <a:lvl8pPr marL="5690411" indent="0">
              <a:buNone/>
              <a:defRPr sz="3556"/>
            </a:lvl8pPr>
            <a:lvl9pPr marL="6503327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3631" y="9534144"/>
            <a:ext cx="6777076" cy="7388352"/>
          </a:xfrm>
        </p:spPr>
        <p:txBody>
          <a:bodyPr>
            <a:normAutofit/>
          </a:bodyPr>
          <a:lstStyle>
            <a:lvl1pPr marL="0" indent="0">
              <a:buNone/>
              <a:defRPr sz="3912" i="1"/>
            </a:lvl1pPr>
            <a:lvl2pPr marL="812916" indent="0">
              <a:buNone/>
              <a:defRPr sz="2489"/>
            </a:lvl2pPr>
            <a:lvl3pPr marL="1625831" indent="0">
              <a:buNone/>
              <a:defRPr sz="2133"/>
            </a:lvl3pPr>
            <a:lvl4pPr marL="2438747" indent="0">
              <a:buNone/>
              <a:defRPr sz="1778"/>
            </a:lvl4pPr>
            <a:lvl5pPr marL="3251664" indent="0">
              <a:buNone/>
              <a:defRPr sz="1778"/>
            </a:lvl5pPr>
            <a:lvl6pPr marL="4064580" indent="0">
              <a:buNone/>
              <a:defRPr sz="1778"/>
            </a:lvl6pPr>
            <a:lvl7pPr marL="4877495" indent="0">
              <a:buNone/>
              <a:defRPr sz="1778"/>
            </a:lvl7pPr>
            <a:lvl8pPr marL="5690411" indent="0">
              <a:buNone/>
              <a:defRPr sz="1778"/>
            </a:lvl8pPr>
            <a:lvl9pPr marL="6503327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8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90147" y="2609088"/>
            <a:ext cx="3444088" cy="1431340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03631" y="2609088"/>
            <a:ext cx="10813694" cy="1431340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558333" y="9658329"/>
            <a:ext cx="14201958" cy="2015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46162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1" y="2609088"/>
            <a:ext cx="15060168" cy="3901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631" y="6876288"/>
            <a:ext cx="15060168" cy="10046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3631" y="17117573"/>
            <a:ext cx="370332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3631" y="268229"/>
            <a:ext cx="555498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467533" y="17117573"/>
            <a:ext cx="86410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128" y="1354910"/>
            <a:ext cx="15056840" cy="398078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32706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1625831" rtl="0" eaLnBrk="1" latinLnBrk="0" hangingPunct="1">
        <a:lnSpc>
          <a:spcPct val="100000"/>
        </a:lnSpc>
        <a:spcBef>
          <a:spcPct val="0"/>
        </a:spcBef>
        <a:buNone/>
        <a:defRPr sz="782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58" indent="-406458" algn="l" defTabSz="1625831" rtl="0" eaLnBrk="1" latinLnBrk="0" hangingPunct="1">
        <a:lnSpc>
          <a:spcPct val="110000"/>
        </a:lnSpc>
        <a:spcBef>
          <a:spcPts val="1778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74" indent="-406458" algn="l" defTabSz="1625831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2pPr>
      <a:lvl3pPr marL="2032290" indent="-406458" algn="l" defTabSz="1625831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489" kern="1200">
          <a:solidFill>
            <a:schemeClr val="tx1"/>
          </a:solidFill>
          <a:latin typeface="+mn-lt"/>
          <a:ea typeface="+mn-ea"/>
          <a:cs typeface="+mn-cs"/>
        </a:defRPr>
      </a:lvl3pPr>
      <a:lvl4pPr marL="2845206" indent="-406458" algn="l" defTabSz="1625831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3658122" indent="-406458" algn="l" defTabSz="1625831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4471037" indent="-406458" algn="l" defTabSz="1625831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953" indent="-406458" algn="l" defTabSz="1625831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868" indent="-406458" algn="l" defTabSz="1625831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9784" indent="-406458" algn="l" defTabSz="1625831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83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916" algn="l" defTabSz="162583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831" algn="l" defTabSz="162583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747" algn="l" defTabSz="162583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664" algn="l" defTabSz="162583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580" algn="l" defTabSz="162583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7495" algn="l" defTabSz="162583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90411" algn="l" defTabSz="162583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3327" algn="l" defTabSz="162583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wmf"/><Relationship Id="rId21" Type="http://schemas.openxmlformats.org/officeDocument/2006/relationships/image" Target="../media/image10.e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5B369051-24C4-C5F1-02F7-09B540C80F32}"/>
              </a:ext>
            </a:extLst>
          </p:cNvPr>
          <p:cNvSpPr/>
          <p:nvPr/>
        </p:nvSpPr>
        <p:spPr>
          <a:xfrm>
            <a:off x="7550070" y="3133878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EDD7DB-4823-01B9-03BF-4D27AC2A2588}"/>
              </a:ext>
            </a:extLst>
          </p:cNvPr>
          <p:cNvSpPr/>
          <p:nvPr/>
        </p:nvSpPr>
        <p:spPr>
          <a:xfrm>
            <a:off x="3892550" y="4660900"/>
            <a:ext cx="1917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tham số: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3DD9623-904F-7740-2B1C-51E426BA31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376430"/>
              </p:ext>
            </p:extLst>
          </p:nvPr>
        </p:nvGraphicFramePr>
        <p:xfrm>
          <a:off x="4019550" y="5022850"/>
          <a:ext cx="166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41200" progId="Equation.DSMT4">
                  <p:embed/>
                </p:oleObj>
              </mc:Choice>
              <mc:Fallback>
                <p:oleObj name="Equation" r:id="rId2" imgW="1663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19550" y="5022850"/>
                        <a:ext cx="1663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2C6E464-CB20-2622-828A-5AEA30F59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498796"/>
              </p:ext>
            </p:extLst>
          </p:nvPr>
        </p:nvGraphicFramePr>
        <p:xfrm>
          <a:off x="4044950" y="5264150"/>
          <a:ext cx="161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03040" progId="Equation.DSMT4">
                  <p:embed/>
                </p:oleObj>
              </mc:Choice>
              <mc:Fallback>
                <p:oleObj name="Equation" r:id="rId4" imgW="1612800" imgH="2030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3DD9623-904F-7740-2B1C-51E426BA3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44950" y="5264150"/>
                        <a:ext cx="161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B64A06A-B0D8-3883-0B50-2D13EC79676B}"/>
              </a:ext>
            </a:extLst>
          </p:cNvPr>
          <p:cNvSpPr/>
          <p:nvPr/>
        </p:nvSpPr>
        <p:spPr>
          <a:xfrm>
            <a:off x="6295945" y="466090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hạn trụ tại từng trạm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354615D-D4C3-EF5D-C6FE-36BE10082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315425"/>
              </p:ext>
            </p:extLst>
          </p:nvPr>
        </p:nvGraphicFramePr>
        <p:xfrm>
          <a:off x="6873795" y="5238750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73795" y="5238750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2FB0DED-F7CE-34F0-D057-D917DE83E17D}"/>
              </a:ext>
            </a:extLst>
          </p:cNvPr>
          <p:cNvSpPr/>
          <p:nvPr/>
        </p:nvSpPr>
        <p:spPr>
          <a:xfrm>
            <a:off x="8445340" y="466090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trận khoảng cách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50754AC-6D84-3287-CACF-BF90949C1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798272"/>
              </p:ext>
            </p:extLst>
          </p:nvPr>
        </p:nvGraphicFramePr>
        <p:xfrm>
          <a:off x="8997790" y="5238750"/>
          <a:ext cx="558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03040" progId="Equation.DSMT4">
                  <p:embed/>
                </p:oleObj>
              </mc:Choice>
              <mc:Fallback>
                <p:oleObj name="Equation" r:id="rId8" imgW="558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997790" y="5238750"/>
                        <a:ext cx="558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4352642-80B2-B39B-7949-AB7DFAE76869}"/>
              </a:ext>
            </a:extLst>
          </p:cNvPr>
          <p:cNvSpPr/>
          <p:nvPr/>
        </p:nvSpPr>
        <p:spPr>
          <a:xfrm>
            <a:off x="10594735" y="466090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 nhu cầu sạc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8DBDDC0-8299-E305-EC9D-57B7612C4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354773"/>
              </p:ext>
            </p:extLst>
          </p:nvPr>
        </p:nvGraphicFramePr>
        <p:xfrm>
          <a:off x="11331335" y="521335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228600" progId="Equation.DSMT4">
                  <p:embed/>
                </p:oleObj>
              </mc:Choice>
              <mc:Fallback>
                <p:oleObj name="Equation" r:id="rId10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331335" y="521335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913729-9D66-EE49-AD63-D27C11C6CF27}"/>
              </a:ext>
            </a:extLst>
          </p:cNvPr>
          <p:cNvSpPr/>
          <p:nvPr/>
        </p:nvSpPr>
        <p:spPr>
          <a:xfrm>
            <a:off x="3702050" y="4006850"/>
            <a:ext cx="8864600" cy="1625600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3C0A0-0684-DE6E-79BC-540ABCB6AC29}"/>
              </a:ext>
            </a:extLst>
          </p:cNvPr>
          <p:cNvSpPr txBox="1"/>
          <p:nvPr/>
        </p:nvSpPr>
        <p:spPr>
          <a:xfrm>
            <a:off x="6978650" y="4085909"/>
            <a:ext cx="23431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</a:p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đầu vào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C7F276-5B12-0880-A4C7-58CE40F53B5B}"/>
              </a:ext>
            </a:extLst>
          </p:cNvPr>
          <p:cNvSpPr/>
          <p:nvPr/>
        </p:nvSpPr>
        <p:spPr>
          <a:xfrm>
            <a:off x="8445343" y="6033771"/>
            <a:ext cx="4121311" cy="6015990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9832CF-4178-C5F6-B56E-B5820EF2D255}"/>
              </a:ext>
            </a:extLst>
          </p:cNvPr>
          <p:cNvSpPr txBox="1"/>
          <p:nvPr/>
        </p:nvSpPr>
        <p:spPr>
          <a:xfrm>
            <a:off x="9069112" y="6159503"/>
            <a:ext cx="29704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</a:p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Giai đoạn 2 – Thuật toán Branch and Cut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01EE53-02B2-17DD-0C1A-3895557197FA}"/>
              </a:ext>
            </a:extLst>
          </p:cNvPr>
          <p:cNvSpPr/>
          <p:nvPr/>
        </p:nvSpPr>
        <p:spPr>
          <a:xfrm>
            <a:off x="9250680" y="6811647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Branch and Cut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E75EA8F-DF0F-D72A-C7DD-5406C0C5CBBB}"/>
              </a:ext>
            </a:extLst>
          </p:cNvPr>
          <p:cNvSpPr/>
          <p:nvPr/>
        </p:nvSpPr>
        <p:spPr>
          <a:xfrm>
            <a:off x="3702051" y="6033770"/>
            <a:ext cx="4121311" cy="6015990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9A886B-0849-5D47-5045-F7882A542D04}"/>
              </a:ext>
            </a:extLst>
          </p:cNvPr>
          <p:cNvSpPr txBox="1"/>
          <p:nvPr/>
        </p:nvSpPr>
        <p:spPr>
          <a:xfrm>
            <a:off x="4325821" y="6159501"/>
            <a:ext cx="28737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(3).</a:t>
            </a:r>
          </a:p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Giai đoạn 1 – Thuật toán HBIPSO-GR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7319EE-7730-C3BA-74B9-D0B1182D4CC5}"/>
              </a:ext>
            </a:extLst>
          </p:cNvPr>
          <p:cNvSpPr/>
          <p:nvPr/>
        </p:nvSpPr>
        <p:spPr>
          <a:xfrm>
            <a:off x="4507390" y="7592219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quần thể</a:t>
            </a:r>
          </a:p>
          <a:p>
            <a:pPr algn="ctr"/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(CSP: z, số trụ: y)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A53A45-EC3A-80D5-2682-699DB715AAB2}"/>
              </a:ext>
            </a:extLst>
          </p:cNvPr>
          <p:cNvSpPr/>
          <p:nvPr/>
        </p:nvSpPr>
        <p:spPr>
          <a:xfrm>
            <a:off x="4507390" y="8372793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 giá + Greedy Repair</a:t>
            </a:r>
          </a:p>
          <a:p>
            <a:pPr algn="ctr"/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, F1, F2, F3</a:t>
            </a:r>
          </a:p>
        </p:txBody>
      </p:sp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63AD4991-3509-D7F6-B38C-9F5109133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878259"/>
              </p:ext>
            </p:extLst>
          </p:nvPr>
        </p:nvGraphicFramePr>
        <p:xfrm>
          <a:off x="5235586" y="8619013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03040" progId="Equation.DSMT4">
                  <p:embed/>
                </p:oleObj>
              </mc:Choice>
              <mc:Fallback>
                <p:oleObj name="Equation" r:id="rId12" imgW="406080" imgH="20304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0A56A293-6680-86E4-3AB9-F235E4CB61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235586" y="8619013"/>
                        <a:ext cx="406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CDD8E4-C9F3-5D43-0943-79DAE33CE56A}"/>
              </a:ext>
            </a:extLst>
          </p:cNvPr>
          <p:cNvCxnSpPr>
            <a:cxnSpLocks/>
          </p:cNvCxnSpPr>
          <p:nvPr/>
        </p:nvCxnSpPr>
        <p:spPr>
          <a:xfrm>
            <a:off x="4928406" y="8720613"/>
            <a:ext cx="307180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BFE01AC-E0BB-A9E4-2F1A-DE8DE13AF604}"/>
              </a:ext>
            </a:extLst>
          </p:cNvPr>
          <p:cNvSpPr/>
          <p:nvPr/>
        </p:nvSpPr>
        <p:spPr>
          <a:xfrm>
            <a:off x="4507390" y="9153367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PSO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(pbest/gbest)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BFF7104-2D1B-F70C-97B1-587165F3DDD0}"/>
              </a:ext>
            </a:extLst>
          </p:cNvPr>
          <p:cNvSpPr/>
          <p:nvPr/>
        </p:nvSpPr>
        <p:spPr>
          <a:xfrm>
            <a:off x="4507390" y="10121900"/>
            <a:ext cx="2560320" cy="883920"/>
          </a:xfrm>
          <a:prstGeom prst="diamond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Thỏa mãn số vòng lặp?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5FD9D0B4-06AE-B39F-C965-0D008B4E30A5}"/>
              </a:ext>
            </a:extLst>
          </p:cNvPr>
          <p:cNvCxnSpPr>
            <a:stCxn id="43" idx="3"/>
            <a:endCxn id="39" idx="3"/>
          </p:cNvCxnSpPr>
          <p:nvPr/>
        </p:nvCxnSpPr>
        <p:spPr>
          <a:xfrm flipV="1">
            <a:off x="7067710" y="8619015"/>
            <a:ext cx="12700" cy="1944846"/>
          </a:xfrm>
          <a:prstGeom prst="bentConnector3">
            <a:avLst>
              <a:gd name="adj1" fmla="val 480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E91753-82DD-46DD-54AC-D1B7D6FC3510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5787550" y="9645812"/>
            <a:ext cx="0" cy="47609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7E65D3D-6416-DBBE-C88A-BF5CB25D7F9A}"/>
              </a:ext>
            </a:extLst>
          </p:cNvPr>
          <p:cNvSpPr/>
          <p:nvPr/>
        </p:nvSpPr>
        <p:spPr>
          <a:xfrm>
            <a:off x="4507390" y="6811645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PSO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B8E4DC-898E-E293-E073-0BAF2961AC4A}"/>
              </a:ext>
            </a:extLst>
          </p:cNvPr>
          <p:cNvSpPr txBox="1"/>
          <p:nvPr/>
        </p:nvSpPr>
        <p:spPr>
          <a:xfrm>
            <a:off x="5727701" y="10161364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Không đồng ý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B7E056-A98D-278F-444C-6D0F7107522A}"/>
              </a:ext>
            </a:extLst>
          </p:cNvPr>
          <p:cNvSpPr/>
          <p:nvPr/>
        </p:nvSpPr>
        <p:spPr>
          <a:xfrm>
            <a:off x="4507390" y="11378341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 hạt giống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F1F72E-86F5-C4A1-5A8B-619F573A20E9}"/>
              </a:ext>
            </a:extLst>
          </p:cNvPr>
          <p:cNvSpPr txBox="1"/>
          <p:nvPr/>
        </p:nvSpPr>
        <p:spPr>
          <a:xfrm>
            <a:off x="4693645" y="11039951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Đồng ý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901C3AF-3E18-B2AB-6B71-48E56FAA9F19}"/>
              </a:ext>
            </a:extLst>
          </p:cNvPr>
          <p:cNvCxnSpPr>
            <a:stCxn id="43" idx="2"/>
            <a:endCxn id="49" idx="0"/>
          </p:cNvCxnSpPr>
          <p:nvPr/>
        </p:nvCxnSpPr>
        <p:spPr>
          <a:xfrm>
            <a:off x="5787550" y="11005820"/>
            <a:ext cx="0" cy="37252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8F9BF15-592F-CFB5-3208-A52DD8E96CC2}"/>
              </a:ext>
            </a:extLst>
          </p:cNvPr>
          <p:cNvCxnSpPr>
            <a:stCxn id="4" idx="2"/>
            <a:endCxn id="36" idx="0"/>
          </p:cNvCxnSpPr>
          <p:nvPr/>
        </p:nvCxnSpPr>
        <p:spPr>
          <a:xfrm rot="16200000" flipH="1">
            <a:off x="5052418" y="5323482"/>
            <a:ext cx="509270" cy="91130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20B93D7-09CA-1130-EC01-E09AC341ED5C}"/>
              </a:ext>
            </a:extLst>
          </p:cNvPr>
          <p:cNvCxnSpPr>
            <a:stCxn id="7" idx="2"/>
            <a:endCxn id="36" idx="0"/>
          </p:cNvCxnSpPr>
          <p:nvPr/>
        </p:nvCxnSpPr>
        <p:spPr>
          <a:xfrm rot="5400000">
            <a:off x="6190616" y="5096593"/>
            <a:ext cx="509270" cy="136508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E13974A-927E-FC7D-7452-831F22795EF9}"/>
              </a:ext>
            </a:extLst>
          </p:cNvPr>
          <p:cNvCxnSpPr>
            <a:stCxn id="9" idx="2"/>
            <a:endCxn id="36" idx="0"/>
          </p:cNvCxnSpPr>
          <p:nvPr/>
        </p:nvCxnSpPr>
        <p:spPr>
          <a:xfrm rot="5400000">
            <a:off x="7265314" y="4021893"/>
            <a:ext cx="509270" cy="3514484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2601A5D-BBC7-4C1E-5D8F-29CAF2770D8B}"/>
              </a:ext>
            </a:extLst>
          </p:cNvPr>
          <p:cNvCxnSpPr>
            <a:stCxn id="11" idx="2"/>
            <a:endCxn id="36" idx="0"/>
          </p:cNvCxnSpPr>
          <p:nvPr/>
        </p:nvCxnSpPr>
        <p:spPr>
          <a:xfrm rot="5400000">
            <a:off x="8340011" y="2947197"/>
            <a:ext cx="509270" cy="566387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4A88CAB1-0A18-77D6-BFAA-40A513F57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839454"/>
              </p:ext>
            </p:extLst>
          </p:nvPr>
        </p:nvGraphicFramePr>
        <p:xfrm>
          <a:off x="5242005" y="11635579"/>
          <a:ext cx="1041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228600" progId="Equation.DSMT4">
                  <p:embed/>
                </p:oleObj>
              </mc:Choice>
              <mc:Fallback>
                <p:oleObj name="Equation" r:id="rId14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42005" y="11635579"/>
                        <a:ext cx="1041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DE32604-D2EE-9A9D-47A3-9F0792F68303}"/>
              </a:ext>
            </a:extLst>
          </p:cNvPr>
          <p:cNvCxnSpPr>
            <a:cxnSpLocks/>
            <a:stCxn id="33" idx="2"/>
            <a:endCxn id="85" idx="0"/>
          </p:cNvCxnSpPr>
          <p:nvPr/>
        </p:nvCxnSpPr>
        <p:spPr>
          <a:xfrm flipH="1">
            <a:off x="10527052" y="7304087"/>
            <a:ext cx="3791" cy="2563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B118C25E-F9BB-DD55-F243-48B85668973D}"/>
              </a:ext>
            </a:extLst>
          </p:cNvPr>
          <p:cNvCxnSpPr>
            <a:cxnSpLocks/>
            <a:stCxn id="49" idx="3"/>
            <a:endCxn id="85" idx="2"/>
          </p:cNvCxnSpPr>
          <p:nvPr/>
        </p:nvCxnSpPr>
        <p:spPr>
          <a:xfrm flipV="1">
            <a:off x="7067713" y="7743277"/>
            <a:ext cx="3276459" cy="3881287"/>
          </a:xfrm>
          <a:prstGeom prst="bentConnector3">
            <a:avLst>
              <a:gd name="adj1" fmla="val 3930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lowchart: Summing Junction 84">
            <a:extLst>
              <a:ext uri="{FF2B5EF4-FFF2-40B4-BE49-F238E27FC236}">
                <a16:creationId xmlns:a16="http://schemas.microsoft.com/office/drawing/2014/main" id="{0DFA674A-6ECB-EF4A-2843-C8C209A149DD}"/>
              </a:ext>
            </a:extLst>
          </p:cNvPr>
          <p:cNvSpPr/>
          <p:nvPr/>
        </p:nvSpPr>
        <p:spPr>
          <a:xfrm>
            <a:off x="10344169" y="7560395"/>
            <a:ext cx="365760" cy="365760"/>
          </a:xfrm>
          <a:prstGeom prst="flowChartSummingJuncti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2847865-72F3-10CE-CC63-6C52FEA783D8}"/>
              </a:ext>
            </a:extLst>
          </p:cNvPr>
          <p:cNvSpPr/>
          <p:nvPr/>
        </p:nvSpPr>
        <p:spPr>
          <a:xfrm>
            <a:off x="8594646" y="8372791"/>
            <a:ext cx="1851424" cy="14570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 độ A 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(cố định CSP)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81596A2-15D8-8EBB-5E10-1CEFF92853B9}"/>
              </a:ext>
            </a:extLst>
          </p:cNvPr>
          <p:cNvSpPr/>
          <p:nvPr/>
        </p:nvSpPr>
        <p:spPr>
          <a:xfrm>
            <a:off x="10596123" y="8372791"/>
            <a:ext cx="1851424" cy="14570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 độ B 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(không cố định CSP)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MIP bắt đầu giải từ nghiệm hạt giống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8084340C-FB93-2F9F-7541-4552D78C0CEC}"/>
              </a:ext>
            </a:extLst>
          </p:cNvPr>
          <p:cNvCxnSpPr>
            <a:cxnSpLocks/>
            <a:stCxn id="85" idx="4"/>
            <a:endCxn id="90" idx="0"/>
          </p:cNvCxnSpPr>
          <p:nvPr/>
        </p:nvCxnSpPr>
        <p:spPr>
          <a:xfrm rot="5400000">
            <a:off x="9800386" y="7646131"/>
            <a:ext cx="446636" cy="1006691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ACDD42D3-37CB-E074-A881-6C8635C28C41}"/>
              </a:ext>
            </a:extLst>
          </p:cNvPr>
          <p:cNvCxnSpPr>
            <a:cxnSpLocks/>
            <a:stCxn id="85" idx="4"/>
            <a:endCxn id="91" idx="0"/>
          </p:cNvCxnSpPr>
          <p:nvPr/>
        </p:nvCxnSpPr>
        <p:spPr>
          <a:xfrm rot="16200000" flipH="1">
            <a:off x="10801124" y="7652081"/>
            <a:ext cx="446636" cy="994786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98B71FA2-E27B-F437-3062-0ED147C018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775844"/>
              </p:ext>
            </p:extLst>
          </p:nvPr>
        </p:nvGraphicFramePr>
        <p:xfrm>
          <a:off x="9127115" y="8819639"/>
          <a:ext cx="847250" cy="197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190440" progId="Equation.DSMT4">
                  <p:embed/>
                </p:oleObj>
              </mc:Choice>
              <mc:Fallback>
                <p:oleObj name="Equation" r:id="rId16" imgW="8125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127115" y="8819639"/>
                        <a:ext cx="847250" cy="197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05CC924D-9A0E-E4F0-B4DF-AE2BD9C3D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082197"/>
              </p:ext>
            </p:extLst>
          </p:nvPr>
        </p:nvGraphicFramePr>
        <p:xfrm>
          <a:off x="8998289" y="8986519"/>
          <a:ext cx="1104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04840" imgH="228600" progId="Equation.DSMT4">
                  <p:embed/>
                </p:oleObj>
              </mc:Choice>
              <mc:Fallback>
                <p:oleObj name="Equation" r:id="rId18" imgW="1104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998289" y="8986519"/>
                        <a:ext cx="1104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DC3F84B7-1F1B-14EC-5758-AA17D3E9C9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419238"/>
              </p:ext>
            </p:extLst>
          </p:nvPr>
        </p:nvGraphicFramePr>
        <p:xfrm>
          <a:off x="10978538" y="9179278"/>
          <a:ext cx="1104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5048" imgH="228567" progId="Equation.DSMT4">
                  <p:embed/>
                </p:oleObj>
              </mc:Choice>
              <mc:Fallback>
                <p:oleObj name="Equation" r:id="rId20" imgW="1105048" imgH="22856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978538" y="9179278"/>
                        <a:ext cx="1104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8B5B0C75-90CB-43AA-5114-9423BC40C10A}"/>
              </a:ext>
            </a:extLst>
          </p:cNvPr>
          <p:cNvSpPr txBox="1"/>
          <p:nvPr/>
        </p:nvSpPr>
        <p:spPr>
          <a:xfrm>
            <a:off x="10790254" y="9337382"/>
            <a:ext cx="18514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+ chi phí mở trạm</a:t>
            </a:r>
          </a:p>
          <a:p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Có thể đóng bớt trạm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91DAF10-2D9F-E0DB-0B86-46C7DAE353A1}"/>
              </a:ext>
            </a:extLst>
          </p:cNvPr>
          <p:cNvSpPr txBox="1"/>
          <p:nvPr/>
        </p:nvSpPr>
        <p:spPr>
          <a:xfrm>
            <a:off x="8601471" y="9221982"/>
            <a:ext cx="2035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Ràng buộc F1&gt;= mục tiêu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5D564DD-BA71-2572-BDFF-BBA9A87A859F}"/>
              </a:ext>
            </a:extLst>
          </p:cNvPr>
          <p:cNvSpPr/>
          <p:nvPr/>
        </p:nvSpPr>
        <p:spPr>
          <a:xfrm>
            <a:off x="9250680" y="10301972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Branch and Cut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Dừng khi MIP gap         / time limit 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A1A022CD-DA45-D22D-EF05-B47D2FBA8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832267"/>
              </p:ext>
            </p:extLst>
          </p:nvPr>
        </p:nvGraphicFramePr>
        <p:xfrm>
          <a:off x="10632316" y="10561731"/>
          <a:ext cx="296847" cy="203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200" imgH="164880" progId="Equation.DSMT4">
                  <p:embed/>
                </p:oleObj>
              </mc:Choice>
              <mc:Fallback>
                <p:oleObj name="Equation" r:id="rId22" imgW="2412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632316" y="10561731"/>
                        <a:ext cx="296847" cy="203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0C87223F-60B8-32BF-FDEA-A9D16A7457D8}"/>
              </a:ext>
            </a:extLst>
          </p:cNvPr>
          <p:cNvCxnSpPr>
            <a:stCxn id="90" idx="2"/>
            <a:endCxn id="113" idx="0"/>
          </p:cNvCxnSpPr>
          <p:nvPr/>
        </p:nvCxnSpPr>
        <p:spPr>
          <a:xfrm rot="16200000" flipH="1">
            <a:off x="9789526" y="9560656"/>
            <a:ext cx="472146" cy="1010482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A199AB92-41D5-6719-0ABC-C2131ABAF41A}"/>
              </a:ext>
            </a:extLst>
          </p:cNvPr>
          <p:cNvCxnSpPr>
            <a:stCxn id="108" idx="2"/>
            <a:endCxn id="113" idx="0"/>
          </p:cNvCxnSpPr>
          <p:nvPr/>
        </p:nvCxnSpPr>
        <p:spPr>
          <a:xfrm rot="5400000">
            <a:off x="10887331" y="9473334"/>
            <a:ext cx="472147" cy="1185126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7574902F-22D4-A93F-EFEC-CE960694801D}"/>
              </a:ext>
            </a:extLst>
          </p:cNvPr>
          <p:cNvSpPr/>
          <p:nvPr/>
        </p:nvSpPr>
        <p:spPr>
          <a:xfrm>
            <a:off x="9942769" y="12253549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82A7836-705B-AC30-C6EB-5BC731500046}"/>
              </a:ext>
            </a:extLst>
          </p:cNvPr>
          <p:cNvCxnSpPr>
            <a:stCxn id="46" idx="2"/>
            <a:endCxn id="38" idx="0"/>
          </p:cNvCxnSpPr>
          <p:nvPr/>
        </p:nvCxnSpPr>
        <p:spPr>
          <a:xfrm>
            <a:off x="5787550" y="7304090"/>
            <a:ext cx="0" cy="2881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853EA4E-DA58-B6D9-D543-BF05FD5FE618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5787550" y="8084664"/>
            <a:ext cx="0" cy="2881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6362EB6-290F-87C6-E827-BCBBFDD6E337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5787550" y="8865238"/>
            <a:ext cx="0" cy="2881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5EB6849-EFE2-8DA1-1721-56FFCC5252B8}"/>
              </a:ext>
            </a:extLst>
          </p:cNvPr>
          <p:cNvCxnSpPr>
            <a:cxnSpLocks/>
            <a:stCxn id="113" idx="2"/>
            <a:endCxn id="119" idx="0"/>
          </p:cNvCxnSpPr>
          <p:nvPr/>
        </p:nvCxnSpPr>
        <p:spPr>
          <a:xfrm flipH="1">
            <a:off x="10527052" y="10794413"/>
            <a:ext cx="3791" cy="14591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F00F3E7-FBA0-D933-F314-56217F647FD0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8134350" y="3604617"/>
            <a:ext cx="0" cy="4022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088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D0B3-86E5-8C69-3681-0E1033A9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B9009F50-6440-C9B1-28E8-C590ED4A3B76}"/>
              </a:ext>
            </a:extLst>
          </p:cNvPr>
          <p:cNvSpPr/>
          <p:nvPr/>
        </p:nvSpPr>
        <p:spPr>
          <a:xfrm>
            <a:off x="5768895" y="3133878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196307-7424-79FB-276F-858DDDA2A1BC}"/>
              </a:ext>
            </a:extLst>
          </p:cNvPr>
          <p:cNvSpPr/>
          <p:nvPr/>
        </p:nvSpPr>
        <p:spPr>
          <a:xfrm>
            <a:off x="5073015" y="3939074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hợp các mục tiêu và trọng số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9AEC8AA3-8373-4C0D-4327-6F993B3B8844}"/>
              </a:ext>
            </a:extLst>
          </p:cNvPr>
          <p:cNvSpPr/>
          <p:nvPr/>
        </p:nvSpPr>
        <p:spPr>
          <a:xfrm>
            <a:off x="5768895" y="11493955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9B52BFD4-6EE2-86F9-680F-A9A5A675B93F}"/>
              </a:ext>
            </a:extLst>
          </p:cNvPr>
          <p:cNvSpPr/>
          <p:nvPr/>
        </p:nvSpPr>
        <p:spPr>
          <a:xfrm>
            <a:off x="5073015" y="9068521"/>
            <a:ext cx="2560320" cy="883920"/>
          </a:xfrm>
          <a:prstGeom prst="diamond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các biến nguyên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F70AB3-751C-F2F5-DA3B-BD3C0DC80D7F}"/>
              </a:ext>
            </a:extLst>
          </p:cNvPr>
          <p:cNvCxnSpPr>
            <a:cxnSpLocks/>
            <a:stCxn id="3" idx="2"/>
            <a:endCxn id="33" idx="0"/>
          </p:cNvCxnSpPr>
          <p:nvPr/>
        </p:nvCxnSpPr>
        <p:spPr>
          <a:xfrm>
            <a:off x="6353175" y="3604617"/>
            <a:ext cx="0" cy="33445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1FD5CFF-BD57-D7AC-F4D1-148D3EAC119C}"/>
              </a:ext>
            </a:extLst>
          </p:cNvPr>
          <p:cNvSpPr/>
          <p:nvPr/>
        </p:nvSpPr>
        <p:spPr>
          <a:xfrm>
            <a:off x="5073015" y="4966257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cấu trúc MILP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16C0F4-AF97-79CA-7716-E92451B32582}"/>
              </a:ext>
            </a:extLst>
          </p:cNvPr>
          <p:cNvSpPr/>
          <p:nvPr/>
        </p:nvSpPr>
        <p:spPr>
          <a:xfrm>
            <a:off x="5073015" y="5993440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nút gốc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toán LP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78EC92-6BCD-B9C6-5728-C541F835AE40}"/>
              </a:ext>
            </a:extLst>
          </p:cNvPr>
          <p:cNvSpPr/>
          <p:nvPr/>
        </p:nvSpPr>
        <p:spPr>
          <a:xfrm>
            <a:off x="5073015" y="8047806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 giá các chỉ tiêu trạm sạc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(số EV phục vụ, cân bằng tải, diện tích sử dụng)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6722D8-3E7C-AFBB-23FB-B040FFBB03D4}"/>
              </a:ext>
            </a:extLst>
          </p:cNvPr>
          <p:cNvCxnSpPr>
            <a:stCxn id="33" idx="2"/>
            <a:endCxn id="29" idx="0"/>
          </p:cNvCxnSpPr>
          <p:nvPr/>
        </p:nvCxnSpPr>
        <p:spPr>
          <a:xfrm>
            <a:off x="6353175" y="4771180"/>
            <a:ext cx="0" cy="19507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6DA93F-DBDE-0C13-7C01-EE55F5272B6A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6353175" y="5798364"/>
            <a:ext cx="0" cy="19507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93331A9-7050-D56E-9F6A-522F0906F716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>
            <a:off x="6353175" y="8878593"/>
            <a:ext cx="0" cy="1899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55FBB07-AC38-E88D-10FF-59CE2218E37D}"/>
              </a:ext>
            </a:extLst>
          </p:cNvPr>
          <p:cNvSpPr/>
          <p:nvPr/>
        </p:nvSpPr>
        <p:spPr>
          <a:xfrm>
            <a:off x="5073015" y="10473239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nghiệm tốt nhất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(Phương án tối ưu)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5D0606C-95DE-556F-A57F-B7096CD43E4C}"/>
              </a:ext>
            </a:extLst>
          </p:cNvPr>
          <p:cNvCxnSpPr>
            <a:cxnSpLocks/>
            <a:stCxn id="2" idx="2"/>
            <a:endCxn id="64" idx="0"/>
          </p:cNvCxnSpPr>
          <p:nvPr/>
        </p:nvCxnSpPr>
        <p:spPr>
          <a:xfrm>
            <a:off x="6353175" y="9952443"/>
            <a:ext cx="0" cy="5207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71B5D38-C7BA-0FD3-7B62-0A36348F9C28}"/>
              </a:ext>
            </a:extLst>
          </p:cNvPr>
          <p:cNvCxnSpPr>
            <a:stCxn id="64" idx="2"/>
            <a:endCxn id="119" idx="0"/>
          </p:cNvCxnSpPr>
          <p:nvPr/>
        </p:nvCxnSpPr>
        <p:spPr>
          <a:xfrm>
            <a:off x="6353175" y="11304026"/>
            <a:ext cx="0" cy="1899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68E526D7-4E15-ADDB-5DD6-4935E8B83302}"/>
              </a:ext>
            </a:extLst>
          </p:cNvPr>
          <p:cNvSpPr/>
          <p:nvPr/>
        </p:nvSpPr>
        <p:spPr>
          <a:xfrm>
            <a:off x="8241587" y="9091762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 mặt phẳng cắt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A7CC945-756F-2C8E-1A13-7AAE65C4B690}"/>
              </a:ext>
            </a:extLst>
          </p:cNvPr>
          <p:cNvSpPr/>
          <p:nvPr/>
        </p:nvSpPr>
        <p:spPr>
          <a:xfrm>
            <a:off x="8241587" y="10112479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nhánh phương án theo biến phân số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FBA560B-AC35-392D-A639-D1D049ED6522}"/>
              </a:ext>
            </a:extLst>
          </p:cNvPr>
          <p:cNvSpPr/>
          <p:nvPr/>
        </p:nvSpPr>
        <p:spPr>
          <a:xfrm>
            <a:off x="8241587" y="11130854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 nút kế tiếp và giải LP tại nút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2518492-0F39-EC58-1777-CB89F1E9C412}"/>
              </a:ext>
            </a:extLst>
          </p:cNvPr>
          <p:cNvCxnSpPr>
            <a:stCxn id="78" idx="3"/>
            <a:endCxn id="30" idx="3"/>
          </p:cNvCxnSpPr>
          <p:nvPr/>
        </p:nvCxnSpPr>
        <p:spPr>
          <a:xfrm flipH="1" flipV="1">
            <a:off x="7633335" y="6409492"/>
            <a:ext cx="3168572" cy="5137414"/>
          </a:xfrm>
          <a:prstGeom prst="bentConnector3">
            <a:avLst>
              <a:gd name="adj1" fmla="val -7215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C2EE93E8-A6B2-92D9-BD2D-41A15A1E586F}"/>
              </a:ext>
            </a:extLst>
          </p:cNvPr>
          <p:cNvSpPr/>
          <p:nvPr/>
        </p:nvSpPr>
        <p:spPr>
          <a:xfrm>
            <a:off x="5073015" y="7021283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bài toán LP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124A03A-52F9-76E0-89FA-40E0FB8BF505}"/>
              </a:ext>
            </a:extLst>
          </p:cNvPr>
          <p:cNvCxnSpPr>
            <a:stCxn id="2" idx="3"/>
            <a:endCxn id="75" idx="1"/>
          </p:cNvCxnSpPr>
          <p:nvPr/>
        </p:nvCxnSpPr>
        <p:spPr>
          <a:xfrm flipV="1">
            <a:off x="7633335" y="9507816"/>
            <a:ext cx="608252" cy="266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F55BB44-4BD1-6CE7-FC1A-75EEB4012876}"/>
              </a:ext>
            </a:extLst>
          </p:cNvPr>
          <p:cNvCxnSpPr>
            <a:stCxn id="75" idx="2"/>
            <a:endCxn id="77" idx="0"/>
          </p:cNvCxnSpPr>
          <p:nvPr/>
        </p:nvCxnSpPr>
        <p:spPr>
          <a:xfrm>
            <a:off x="9521747" y="9923866"/>
            <a:ext cx="0" cy="18861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8414693-9576-9632-60A9-AB03C3390363}"/>
              </a:ext>
            </a:extLst>
          </p:cNvPr>
          <p:cNvCxnSpPr>
            <a:stCxn id="77" idx="2"/>
            <a:endCxn id="78" idx="0"/>
          </p:cNvCxnSpPr>
          <p:nvPr/>
        </p:nvCxnSpPr>
        <p:spPr>
          <a:xfrm>
            <a:off x="9521747" y="10944582"/>
            <a:ext cx="0" cy="18627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8549ABE-A6B7-4409-9572-993AFEA66ECE}"/>
              </a:ext>
            </a:extLst>
          </p:cNvPr>
          <p:cNvCxnSpPr>
            <a:stCxn id="30" idx="2"/>
            <a:endCxn id="84" idx="0"/>
          </p:cNvCxnSpPr>
          <p:nvPr/>
        </p:nvCxnSpPr>
        <p:spPr>
          <a:xfrm>
            <a:off x="6353175" y="6825545"/>
            <a:ext cx="0" cy="19573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FC2D8CF-9337-747C-13EF-50E0CB3CC1EE}"/>
              </a:ext>
            </a:extLst>
          </p:cNvPr>
          <p:cNvCxnSpPr>
            <a:stCxn id="84" idx="2"/>
            <a:endCxn id="31" idx="0"/>
          </p:cNvCxnSpPr>
          <p:nvPr/>
        </p:nvCxnSpPr>
        <p:spPr>
          <a:xfrm>
            <a:off x="6353175" y="7852068"/>
            <a:ext cx="0" cy="19573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CDC9960F-C277-F6EB-AFE6-08C33E88C241}"/>
              </a:ext>
            </a:extLst>
          </p:cNvPr>
          <p:cNvSpPr txBox="1"/>
          <p:nvPr/>
        </p:nvSpPr>
        <p:spPr>
          <a:xfrm>
            <a:off x="6456763" y="9193342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7091CA4-A9D1-CEAA-CC23-11BE68BAE66D}"/>
              </a:ext>
            </a:extLst>
          </p:cNvPr>
          <p:cNvSpPr txBox="1"/>
          <p:nvPr/>
        </p:nvSpPr>
        <p:spPr>
          <a:xfrm>
            <a:off x="5066112" y="10002772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Có</a:t>
            </a:r>
            <a:endParaRPr lang="en-AU"/>
          </a:p>
        </p:txBody>
      </p:sp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4B2DF733-5DC0-8AA6-07D5-C716A21B5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196094"/>
              </p:ext>
            </p:extLst>
          </p:nvPr>
        </p:nvGraphicFramePr>
        <p:xfrm>
          <a:off x="5768895" y="5487663"/>
          <a:ext cx="1181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228600" progId="Equation.DSMT4">
                  <p:embed/>
                </p:oleObj>
              </mc:Choice>
              <mc:Fallback>
                <p:oleObj name="Equation" r:id="rId2" imgW="1180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68895" y="5487663"/>
                        <a:ext cx="1181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2399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823A-A988-FCD4-9497-D921F80A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E286FCBB-34D7-A4CC-B870-DB0B09D94864}"/>
              </a:ext>
            </a:extLst>
          </p:cNvPr>
          <p:cNvSpPr/>
          <p:nvPr/>
        </p:nvSpPr>
        <p:spPr>
          <a:xfrm>
            <a:off x="7613570" y="482118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DF3440-13E7-34FE-D20A-6EA185F83962}"/>
              </a:ext>
            </a:extLst>
          </p:cNvPr>
          <p:cNvSpPr/>
          <p:nvPr/>
        </p:nvSpPr>
        <p:spPr>
          <a:xfrm>
            <a:off x="3892550" y="2009140"/>
            <a:ext cx="1917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tham số: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1C97F3A-23BD-FD4E-FF35-431EF41FB2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081227"/>
              </p:ext>
            </p:extLst>
          </p:nvPr>
        </p:nvGraphicFramePr>
        <p:xfrm>
          <a:off x="4019550" y="2371090"/>
          <a:ext cx="166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41200" progId="Equation.DSMT4">
                  <p:embed/>
                </p:oleObj>
              </mc:Choice>
              <mc:Fallback>
                <p:oleObj name="Equation" r:id="rId2" imgW="1663560" imgH="2412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4F23E1D-AF72-9052-3512-7EC761DA83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19550" y="2371090"/>
                        <a:ext cx="1663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2037171-4390-558B-A99F-A84E81AF8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476777"/>
              </p:ext>
            </p:extLst>
          </p:nvPr>
        </p:nvGraphicFramePr>
        <p:xfrm>
          <a:off x="4044950" y="2612390"/>
          <a:ext cx="161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03040" progId="Equation.DSMT4">
                  <p:embed/>
                </p:oleObj>
              </mc:Choice>
              <mc:Fallback>
                <p:oleObj name="Equation" r:id="rId4" imgW="1612800" imgH="203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C5EF7DE-5735-BB1A-EB34-B684FAE2F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44950" y="2612390"/>
                        <a:ext cx="161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B066792-5356-44BB-A76F-F7CA95EA324B}"/>
              </a:ext>
            </a:extLst>
          </p:cNvPr>
          <p:cNvSpPr/>
          <p:nvPr/>
        </p:nvSpPr>
        <p:spPr>
          <a:xfrm>
            <a:off x="6295945" y="200914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hạn trụ tại từng trạm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3EFAB29-6022-E7CF-2DFF-89C9C9389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052658"/>
              </p:ext>
            </p:extLst>
          </p:nvPr>
        </p:nvGraphicFramePr>
        <p:xfrm>
          <a:off x="6873795" y="2586990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78A9A9F-B87A-8AE5-3D9F-3437AAFA52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73795" y="2586990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CB03762-B49D-598D-3F31-A57D74C55331}"/>
              </a:ext>
            </a:extLst>
          </p:cNvPr>
          <p:cNvSpPr/>
          <p:nvPr/>
        </p:nvSpPr>
        <p:spPr>
          <a:xfrm>
            <a:off x="8445340" y="200914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trận khoảng cách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61B52F8-41A9-C8CE-B303-013262EDD2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124246"/>
              </p:ext>
            </p:extLst>
          </p:nvPr>
        </p:nvGraphicFramePr>
        <p:xfrm>
          <a:off x="8997790" y="2586990"/>
          <a:ext cx="558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03040" progId="Equation.DSMT4">
                  <p:embed/>
                </p:oleObj>
              </mc:Choice>
              <mc:Fallback>
                <p:oleObj name="Equation" r:id="rId8" imgW="558720" imgH="203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5EBD2E6-05C3-5A40-A977-6DE6B694D6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997790" y="2586990"/>
                        <a:ext cx="558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FD7D552-D370-46D9-04F1-3D1257465E19}"/>
              </a:ext>
            </a:extLst>
          </p:cNvPr>
          <p:cNvSpPr/>
          <p:nvPr/>
        </p:nvSpPr>
        <p:spPr>
          <a:xfrm>
            <a:off x="10594735" y="200914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 nhu cầu sạc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BED8DFAA-3B19-6629-216E-1E41B0FFA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487157"/>
              </p:ext>
            </p:extLst>
          </p:nvPr>
        </p:nvGraphicFramePr>
        <p:xfrm>
          <a:off x="11331335" y="256159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228600" progId="Equation.DSMT4">
                  <p:embed/>
                </p:oleObj>
              </mc:Choice>
              <mc:Fallback>
                <p:oleObj name="Equation" r:id="rId10" imgW="190440" imgH="2286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3E351AB-0322-1682-24BB-3C832D811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331335" y="256159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1AFDD6-1D8F-271A-9C34-34EBCBE4027F}"/>
              </a:ext>
            </a:extLst>
          </p:cNvPr>
          <p:cNvSpPr/>
          <p:nvPr/>
        </p:nvSpPr>
        <p:spPr>
          <a:xfrm>
            <a:off x="3702050" y="1355090"/>
            <a:ext cx="8864600" cy="1625600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8DC76A-2CB0-E40D-FC66-EB595D186A50}"/>
              </a:ext>
            </a:extLst>
          </p:cNvPr>
          <p:cNvSpPr txBox="1"/>
          <p:nvPr/>
        </p:nvSpPr>
        <p:spPr>
          <a:xfrm>
            <a:off x="7058024" y="1472248"/>
            <a:ext cx="23431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</a:p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Chuẩn hóa dữ liệu đầu vào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BE4091-411E-02BF-2B7C-39092AAFCFF0}"/>
              </a:ext>
            </a:extLst>
          </p:cNvPr>
          <p:cNvSpPr/>
          <p:nvPr/>
        </p:nvSpPr>
        <p:spPr>
          <a:xfrm>
            <a:off x="6914914" y="4807610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Vòng lặp tối ưu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104587-D947-BEE4-755B-B7C6CF4E4DD6}"/>
              </a:ext>
            </a:extLst>
          </p:cNvPr>
          <p:cNvSpPr/>
          <p:nvPr/>
        </p:nvSpPr>
        <p:spPr>
          <a:xfrm>
            <a:off x="6917690" y="7481174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 Repair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 nghiệm</a:t>
            </a:r>
          </a:p>
        </p:txBody>
      </p:sp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C97E461C-FE65-0C08-CEA9-D128F7A74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088739"/>
              </p:ext>
            </p:extLst>
          </p:nvPr>
        </p:nvGraphicFramePr>
        <p:xfrm>
          <a:off x="8591390" y="8057294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03040" progId="Equation.DSMT4">
                  <p:embed/>
                </p:oleObj>
              </mc:Choice>
              <mc:Fallback>
                <p:oleObj name="Equation" r:id="rId12" imgW="406080" imgH="20304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DC94E03F-907A-7E11-ED71-D28AF2895D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591390" y="8057294"/>
                        <a:ext cx="406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DC698A92-FBBC-4783-3D04-A8AD106A18AA}"/>
              </a:ext>
            </a:extLst>
          </p:cNvPr>
          <p:cNvSpPr/>
          <p:nvPr/>
        </p:nvSpPr>
        <p:spPr>
          <a:xfrm>
            <a:off x="6917690" y="10017893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 giá nghiệm</a:t>
            </a:r>
          </a:p>
          <a:p>
            <a:pPr algn="ctr"/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F1, F2, F3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03133C-A36A-9A62-8E57-1E10FBB44A85}"/>
              </a:ext>
            </a:extLst>
          </p:cNvPr>
          <p:cNvSpPr/>
          <p:nvPr/>
        </p:nvSpPr>
        <p:spPr>
          <a:xfrm>
            <a:off x="6917690" y="3495926"/>
            <a:ext cx="2560320" cy="9166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quần thể</a:t>
            </a:r>
          </a:p>
          <a:p>
            <a:pPr algn="ctr"/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(CSP: z, số trụ: y)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0CAF9FF-374A-C100-5DA0-D1B996F9528E}"/>
              </a:ext>
            </a:extLst>
          </p:cNvPr>
          <p:cNvSpPr/>
          <p:nvPr/>
        </p:nvSpPr>
        <p:spPr>
          <a:xfrm>
            <a:off x="6917690" y="13856555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 hạt giống tốt nhất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197D274-AE7B-D62F-E1EC-3CCCB3FFB7A4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 rot="16200000" flipH="1">
            <a:off x="6213032" y="1511108"/>
            <a:ext cx="623186" cy="3346450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DC8BDF2-E73D-4803-CC7F-53B18425FBFC}"/>
              </a:ext>
            </a:extLst>
          </p:cNvPr>
          <p:cNvCxnSpPr>
            <a:cxnSpLocks/>
            <a:stCxn id="7" idx="2"/>
            <a:endCxn id="46" idx="0"/>
          </p:cNvCxnSpPr>
          <p:nvPr/>
        </p:nvCxnSpPr>
        <p:spPr>
          <a:xfrm rot="16200000" flipH="1">
            <a:off x="7351230" y="2649307"/>
            <a:ext cx="623186" cy="1070055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C1DDE7D-A046-6C90-9196-1066703FD34A}"/>
              </a:ext>
            </a:extLst>
          </p:cNvPr>
          <p:cNvCxnSpPr>
            <a:cxnSpLocks/>
            <a:stCxn id="9" idx="2"/>
            <a:endCxn id="46" idx="0"/>
          </p:cNvCxnSpPr>
          <p:nvPr/>
        </p:nvCxnSpPr>
        <p:spPr>
          <a:xfrm rot="5400000">
            <a:off x="8425928" y="2644663"/>
            <a:ext cx="623186" cy="1079340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32FC81DC-6BAB-7EB1-2753-A4BBEB644D06}"/>
              </a:ext>
            </a:extLst>
          </p:cNvPr>
          <p:cNvCxnSpPr>
            <a:cxnSpLocks/>
            <a:stCxn id="11" idx="2"/>
            <a:endCxn id="46" idx="0"/>
          </p:cNvCxnSpPr>
          <p:nvPr/>
        </p:nvCxnSpPr>
        <p:spPr>
          <a:xfrm rot="5400000">
            <a:off x="9500626" y="1569968"/>
            <a:ext cx="623186" cy="3228735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64D07772-0CD5-693D-6146-C9694E006A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184440"/>
              </p:ext>
            </p:extLst>
          </p:nvPr>
        </p:nvGraphicFramePr>
        <p:xfrm>
          <a:off x="7667466" y="14414104"/>
          <a:ext cx="1041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228600" progId="Equation.DSMT4">
                  <p:embed/>
                </p:oleObj>
              </mc:Choice>
              <mc:Fallback>
                <p:oleObj name="Equation" r:id="rId14" imgW="1041120" imgH="22860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CEC58BF9-3A88-0CDC-1BB9-D313792187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667466" y="14414104"/>
                        <a:ext cx="1041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3EE0DE8-36EC-691B-7F05-569443CFAAC2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8197850" y="952857"/>
            <a:ext cx="0" cy="4022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iamond 52">
            <a:extLst>
              <a:ext uri="{FF2B5EF4-FFF2-40B4-BE49-F238E27FC236}">
                <a16:creationId xmlns:a16="http://schemas.microsoft.com/office/drawing/2014/main" id="{B5EF9C4F-A5C0-4F31-1589-3C96409C8028}"/>
              </a:ext>
            </a:extLst>
          </p:cNvPr>
          <p:cNvSpPr/>
          <p:nvPr/>
        </p:nvSpPr>
        <p:spPr>
          <a:xfrm>
            <a:off x="6920785" y="8790646"/>
            <a:ext cx="2560320" cy="883920"/>
          </a:xfrm>
          <a:prstGeom prst="diamond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ràng buộc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3C2E75-459A-274B-DCD7-5557E4D45754}"/>
              </a:ext>
            </a:extLst>
          </p:cNvPr>
          <p:cNvSpPr/>
          <p:nvPr/>
        </p:nvSpPr>
        <p:spPr>
          <a:xfrm>
            <a:off x="6917690" y="11374253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PSO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(pbest/gbest)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6F8B420C-F7B7-B4B0-3E2C-175AC148DE40}"/>
              </a:ext>
            </a:extLst>
          </p:cNvPr>
          <p:cNvSpPr/>
          <p:nvPr/>
        </p:nvSpPr>
        <p:spPr>
          <a:xfrm>
            <a:off x="6920785" y="12621699"/>
            <a:ext cx="2560320" cy="883920"/>
          </a:xfrm>
          <a:prstGeom prst="diamond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 điều kiện dừng?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BBC84831-B3A2-B1FE-5507-B0ED4B0F5EC6}"/>
              </a:ext>
            </a:extLst>
          </p:cNvPr>
          <p:cNvCxnSpPr>
            <a:cxnSpLocks/>
            <a:stCxn id="66" idx="3"/>
            <a:endCxn id="38" idx="3"/>
          </p:cNvCxnSpPr>
          <p:nvPr/>
        </p:nvCxnSpPr>
        <p:spPr>
          <a:xfrm flipH="1" flipV="1">
            <a:off x="9475234" y="5264810"/>
            <a:ext cx="5871" cy="7798849"/>
          </a:xfrm>
          <a:prstGeom prst="bentConnector3">
            <a:avLst>
              <a:gd name="adj1" fmla="val -1297905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107EF45-23CB-B9B9-D4CF-5A2716B8CE34}"/>
              </a:ext>
            </a:extLst>
          </p:cNvPr>
          <p:cNvCxnSpPr>
            <a:stCxn id="42" idx="2"/>
            <a:endCxn id="64" idx="0"/>
          </p:cNvCxnSpPr>
          <p:nvPr/>
        </p:nvCxnSpPr>
        <p:spPr>
          <a:xfrm>
            <a:off x="8197850" y="10932293"/>
            <a:ext cx="0" cy="44196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50A815A-1682-EE41-21F7-E987987C38A3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 flipH="1">
            <a:off x="8195074" y="4412538"/>
            <a:ext cx="2776" cy="39507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7BE77B4-CF2F-28C9-D787-A2507D0060EE}"/>
              </a:ext>
            </a:extLst>
          </p:cNvPr>
          <p:cNvSpPr/>
          <p:nvPr/>
        </p:nvSpPr>
        <p:spPr>
          <a:xfrm>
            <a:off x="6911180" y="6169139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vận tốc và vị trí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AC2CC6-2540-3362-6DA0-DC4EBAAB519C}"/>
              </a:ext>
            </a:extLst>
          </p:cNvPr>
          <p:cNvCxnSpPr>
            <a:stCxn id="66" idx="2"/>
            <a:endCxn id="49" idx="0"/>
          </p:cNvCxnSpPr>
          <p:nvPr/>
        </p:nvCxnSpPr>
        <p:spPr>
          <a:xfrm flipH="1">
            <a:off x="8197850" y="13505619"/>
            <a:ext cx="3095" cy="35093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lowchart: Terminator 50">
            <a:extLst>
              <a:ext uri="{FF2B5EF4-FFF2-40B4-BE49-F238E27FC236}">
                <a16:creationId xmlns:a16="http://schemas.microsoft.com/office/drawing/2014/main" id="{7486AE11-EFA0-FA87-F19A-C790F0A81EAF}"/>
              </a:ext>
            </a:extLst>
          </p:cNvPr>
          <p:cNvSpPr/>
          <p:nvPr/>
        </p:nvSpPr>
        <p:spPr>
          <a:xfrm>
            <a:off x="7613570" y="15140274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D920D49-ADC8-07F7-4C07-501683B1484B}"/>
              </a:ext>
            </a:extLst>
          </p:cNvPr>
          <p:cNvCxnSpPr>
            <a:stCxn id="49" idx="2"/>
            <a:endCxn id="51" idx="0"/>
          </p:cNvCxnSpPr>
          <p:nvPr/>
        </p:nvCxnSpPr>
        <p:spPr>
          <a:xfrm>
            <a:off x="8197850" y="14770955"/>
            <a:ext cx="0" cy="36931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C461F47-E93E-72FB-1FC5-DFC1FC48559C}"/>
              </a:ext>
            </a:extLst>
          </p:cNvPr>
          <p:cNvCxnSpPr>
            <a:stCxn id="64" idx="2"/>
            <a:endCxn id="66" idx="0"/>
          </p:cNvCxnSpPr>
          <p:nvPr/>
        </p:nvCxnSpPr>
        <p:spPr>
          <a:xfrm>
            <a:off x="8197850" y="12288653"/>
            <a:ext cx="3095" cy="33304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6E31AB89-3B72-D997-14D3-E0F35FC04019}"/>
              </a:ext>
            </a:extLst>
          </p:cNvPr>
          <p:cNvCxnSpPr>
            <a:stCxn id="53" idx="1"/>
            <a:endCxn id="39" idx="1"/>
          </p:cNvCxnSpPr>
          <p:nvPr/>
        </p:nvCxnSpPr>
        <p:spPr>
          <a:xfrm rot="10800000">
            <a:off x="6917691" y="7938374"/>
            <a:ext cx="3095" cy="1294232"/>
          </a:xfrm>
          <a:prstGeom prst="bentConnector3">
            <a:avLst>
              <a:gd name="adj1" fmla="val 20411793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4E08424-BF9B-DDDC-46ED-59F657B31EE1}"/>
              </a:ext>
            </a:extLst>
          </p:cNvPr>
          <p:cNvCxnSpPr>
            <a:stCxn id="39" idx="2"/>
            <a:endCxn id="53" idx="0"/>
          </p:cNvCxnSpPr>
          <p:nvPr/>
        </p:nvCxnSpPr>
        <p:spPr>
          <a:xfrm>
            <a:off x="8197850" y="8395574"/>
            <a:ext cx="3095" cy="39507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DA1E16D-F9B5-5851-F6DE-37A04CAAA3BB}"/>
              </a:ext>
            </a:extLst>
          </p:cNvPr>
          <p:cNvCxnSpPr>
            <a:stCxn id="53" idx="2"/>
            <a:endCxn id="42" idx="0"/>
          </p:cNvCxnSpPr>
          <p:nvPr/>
        </p:nvCxnSpPr>
        <p:spPr>
          <a:xfrm flipH="1">
            <a:off x="8197850" y="9674566"/>
            <a:ext cx="3095" cy="34332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6468B3F-D186-F46E-5A4D-3449B532D612}"/>
              </a:ext>
            </a:extLst>
          </p:cNvPr>
          <p:cNvCxnSpPr>
            <a:stCxn id="38" idx="2"/>
            <a:endCxn id="127" idx="0"/>
          </p:cNvCxnSpPr>
          <p:nvPr/>
        </p:nvCxnSpPr>
        <p:spPr>
          <a:xfrm flipH="1">
            <a:off x="8191340" y="5722010"/>
            <a:ext cx="3734" cy="44712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35A05B0-2667-F65F-86DB-6AB15D4D4FB6}"/>
              </a:ext>
            </a:extLst>
          </p:cNvPr>
          <p:cNvCxnSpPr>
            <a:stCxn id="127" idx="2"/>
            <a:endCxn id="39" idx="0"/>
          </p:cNvCxnSpPr>
          <p:nvPr/>
        </p:nvCxnSpPr>
        <p:spPr>
          <a:xfrm>
            <a:off x="8191340" y="7083539"/>
            <a:ext cx="6510" cy="3976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F79DD75-0CCB-CB25-266D-EFD5B9713C1D}"/>
              </a:ext>
            </a:extLst>
          </p:cNvPr>
          <p:cNvSpPr txBox="1"/>
          <p:nvPr/>
        </p:nvSpPr>
        <p:spPr>
          <a:xfrm>
            <a:off x="8419940" y="12773682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Chưa đạt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C382969-D8B6-8035-7BA2-0F7B49E964DF}"/>
              </a:ext>
            </a:extLst>
          </p:cNvPr>
          <p:cNvSpPr txBox="1"/>
          <p:nvPr/>
        </p:nvSpPr>
        <p:spPr>
          <a:xfrm>
            <a:off x="7058024" y="13475014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A3DF36C-E223-A4BF-0491-4F6893822FDA}"/>
              </a:ext>
            </a:extLst>
          </p:cNvPr>
          <p:cNvSpPr txBox="1"/>
          <p:nvPr/>
        </p:nvSpPr>
        <p:spPr>
          <a:xfrm>
            <a:off x="7058024" y="9694895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FECDB49-738F-4D21-A157-5E1B74DB518F}"/>
              </a:ext>
            </a:extLst>
          </p:cNvPr>
          <p:cNvSpPr txBox="1"/>
          <p:nvPr/>
        </p:nvSpPr>
        <p:spPr>
          <a:xfrm>
            <a:off x="5168903" y="8984795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Chưa đạt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3154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420</Words>
  <Application>Microsoft Office PowerPoint</Application>
  <PresentationFormat>Custom</PresentationFormat>
  <Paragraphs>105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Bierstadt</vt:lpstr>
      <vt:lpstr>Times New Roman</vt:lpstr>
      <vt:lpstr>GestaltVTI</vt:lpstr>
      <vt:lpstr>Equation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Khai Nguyen</dc:creator>
  <cp:lastModifiedBy>Khai Nguyen</cp:lastModifiedBy>
  <cp:revision>4</cp:revision>
  <dcterms:created xsi:type="dcterms:W3CDTF">2025-10-28T06:05:37Z</dcterms:created>
  <dcterms:modified xsi:type="dcterms:W3CDTF">2026-01-20T14:15:25Z</dcterms:modified>
</cp:coreProperties>
</file>